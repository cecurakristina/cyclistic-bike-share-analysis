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24" r:id="rId2"/>
    <p:sldId id="2542" r:id="rId3"/>
    <p:sldId id="2544" r:id="rId4"/>
    <p:sldId id="2545" r:id="rId5"/>
    <p:sldId id="2584" r:id="rId6"/>
    <p:sldId id="2554" r:id="rId7"/>
    <p:sldId id="2585" r:id="rId8"/>
    <p:sldId id="2586" r:id="rId9"/>
    <p:sldId id="2587" r:id="rId10"/>
    <p:sldId id="2588" r:id="rId11"/>
    <p:sldId id="25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26"/>
    <a:srgbClr val="5DAAB0"/>
    <a:srgbClr val="3B7579"/>
    <a:srgbClr val="AAD3D6"/>
    <a:srgbClr val="418287"/>
    <a:srgbClr val="DFE3E9"/>
    <a:srgbClr val="D6DBE2"/>
    <a:srgbClr val="CCD2DA"/>
    <a:srgbClr val="BBC3CD"/>
    <a:srgbClr val="D3D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5034" autoAdjust="0"/>
  </p:normalViewPr>
  <p:slideViewPr>
    <p:cSldViewPr snapToGrid="0" snapToObjects="1" showGuides="1">
      <p:cViewPr varScale="1">
        <p:scale>
          <a:sx n="99" d="100"/>
          <a:sy n="99" d="100"/>
        </p:scale>
        <p:origin x="108" y="64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36"/>
    </p:cViewPr>
  </p:sorter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Data Retention</a:t>
            </a:r>
            <a:r>
              <a:rPr lang="en-CA" baseline="0" dirty="0"/>
              <a:t> Summary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487797853195368"/>
          <c:y val="0.13376327625378265"/>
          <c:w val="0.85875584172744379"/>
          <c:h val="0.736456891545290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 Raw Dataset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612387651652952"/>
                  <c:y val="3.3960163421427624E-3"/>
                </c:manualLayout>
              </c:layout>
              <c:tx>
                <c:rich>
                  <a:bodyPr/>
                  <a:lstStyle/>
                  <a:p>
                    <a:r>
                      <a:rPr lang="en-US" sz="1197" b="0" i="0" u="none" strike="noStrike" baseline="0" dirty="0">
                        <a:solidFill>
                          <a:schemeClr val="tx2"/>
                        </a:solidFill>
                      </a:rPr>
                      <a:t>5,590,832</a:t>
                    </a:r>
                    <a:endParaRPr lang="en-US" b="0" dirty="0">
                      <a:solidFill>
                        <a:schemeClr val="tx2"/>
                      </a:solidFill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949-44AF-A5FF-50EFA9EA40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Dataset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5590832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49-44AF-A5FF-50EFA9EA40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Cleaned Dataset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6343756785682298"/>
                  <c:y val="3.3960163421427E-3"/>
                </c:manualLayout>
              </c:layout>
              <c:tx>
                <c:rich>
                  <a:bodyPr/>
                  <a:lstStyle/>
                  <a:p>
                    <a:r>
                      <a:rPr lang="en-US" sz="1197" b="0" i="0" u="none" strike="noStrike" baseline="0" dirty="0">
                        <a:solidFill>
                          <a:schemeClr val="tx2"/>
                        </a:solidFill>
                      </a:rPr>
                      <a:t>5,405,267</a:t>
                    </a:r>
                    <a:endParaRPr lang="en-US" b="0" dirty="0">
                      <a:solidFill>
                        <a:schemeClr val="tx2"/>
                      </a:solidFill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949-44AF-A5FF-50EFA9EA40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Dataset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5405267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49-44AF-A5FF-50EFA9EA40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3188912"/>
        <c:axId val="133189872"/>
      </c:barChart>
      <c:catAx>
        <c:axId val="133188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89872"/>
        <c:crosses val="autoZero"/>
        <c:auto val="1"/>
        <c:lblAlgn val="ctr"/>
        <c:lblOffset val="100"/>
        <c:noMultiLvlLbl val="0"/>
      </c:catAx>
      <c:valAx>
        <c:axId val="133189872"/>
        <c:scaling>
          <c:orientation val="minMax"/>
          <c:min val="0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crossAx val="133188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B25D-8766-427E-8C9E-4845048D8DFC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8A28B-0568-4092-BB1A-13C9B073E3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F439B-391B-4B41-826A-951FCF412C34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A0038-7055-434C-B6C4-B8C69565C6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64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0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5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46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8134-EE20-9718-73A5-3E63B5F0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3ED21-213A-9E9E-9B0F-9E87DCC5A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65492-5ED3-970E-599D-913EEFB5B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EC798-D425-863C-1762-E0C0DC495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25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38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9220-BF99-8E96-CA00-B4516814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F1D65-2D59-D7BA-96EC-72702761F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84737-E3AA-757E-CB1C-24850D9B0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41C01-FB03-5ECC-434D-990EEC44C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0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3403-E1FF-2426-3777-057E3FE1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A1FC8-A064-28D8-A04F-7A99E104E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E807D-A5E5-21BD-2789-EF3F72975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1C729-F516-C1EE-F594-5D9C5117F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12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9706-D00B-110E-479D-50BB8BC4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20312-8F98-99ED-2085-DDC8A21ED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37C99-2CE6-C749-D876-F2CA683B3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263F1-6E3C-109E-FF81-6B9C05321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174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8AAE-16EF-6E0B-1C8A-FEDA0BF6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706F5-2BF8-51E1-2837-1668DFDBA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800D5-F60A-430B-31E8-00FC57CE0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19F4B-723B-2AE9-ADAA-4860C92E0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423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C2A0-4131-806D-15A9-B9C85A2D1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760DA-A15F-735E-E50B-0E2EF730C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9220F-D1E4-6E9F-9977-A2B5447D9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8BCCB-C8DB-EEED-792D-BF7C9732C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78736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66759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396160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99E7C9A1-D1C2-4923-B0AE-127044646A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66207" y="0"/>
            <a:ext cx="3325792" cy="6858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708475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96498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1094402" y="2525899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AA0C5BA-C2D3-4A68-8EDE-1831408789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73C762-8092-4F49-BC46-91BCA0557F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208" y="2870519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3209" y="3958542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4788658" y="2817190"/>
            <a:ext cx="0" cy="193031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52B907-27B2-46E0-B157-E5617EF04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AEE170-55AC-411A-B257-BD682DE71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0164" y="3379810"/>
            <a:ext cx="7252505" cy="891250"/>
          </a:xfrm>
        </p:spPr>
        <p:txBody>
          <a:bodyPr anchor="t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92D701DC-3803-4D06-BFB3-A9F78E402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165" y="4467833"/>
            <a:ext cx="7252504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1FB5177-8D30-4482-99E2-8BFEB1D37D9E}"/>
              </a:ext>
            </a:extLst>
          </p:cNvPr>
          <p:cNvSpPr/>
          <p:nvPr userDrawn="1"/>
        </p:nvSpPr>
        <p:spPr>
          <a:xfrm rot="16200000" flipV="1">
            <a:off x="1285385" y="3006251"/>
            <a:ext cx="0" cy="257077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5313" y="879710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5313" y="195615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5313" y="303260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313" y="410904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313" y="518549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35641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137" y="2225040"/>
            <a:ext cx="3557587" cy="366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9432" y="2055335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9432" y="278244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432" y="4352427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9432" y="356743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432" y="513741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4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39803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854" y="879710"/>
            <a:ext cx="3983858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854" y="195615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6854" y="303260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854" y="410904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6854" y="518549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7730" y="87971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7730" y="195615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7730" y="303260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27730" y="410904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7730" y="518549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79517603-8FAC-41C9-B5BE-3F8BA7D93CE6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643" y="1691472"/>
            <a:ext cx="4385841" cy="1325563"/>
          </a:xfrm>
        </p:spPr>
        <p:txBody>
          <a:bodyPr anchor="b"/>
          <a:lstStyle>
            <a:lvl1pPr algn="r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00437"/>
            <a:ext cx="12192000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69843" y="1690688"/>
            <a:ext cx="4155432" cy="13255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9843" y="1227698"/>
            <a:ext cx="4155432" cy="382749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4934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1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25" y="1193765"/>
            <a:ext cx="6322230" cy="1325563"/>
          </a:xfrm>
        </p:spPr>
        <p:txBody>
          <a:bodyPr lIns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93765"/>
            <a:ext cx="5230788" cy="479613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009"/>
            <a:ext cx="3416928" cy="2884911"/>
          </a:xfrm>
        </p:spPr>
        <p:txBody>
          <a:bodyPr lIns="0" anchor="t">
            <a:normAutofit/>
          </a:bodyPr>
          <a:lstStyle>
            <a:lvl1pPr algn="r"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0875" y="180900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80900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0572" y="221329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21329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7089"/>
            <a:ext cx="4297212" cy="3449109"/>
          </a:xfr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4000" dirty="0">
                <a:latin typeface="+mj-lt"/>
              </a:defRPr>
            </a:lvl1pPr>
          </a:lstStyle>
          <a:p>
            <a:pPr marL="0" lvl="0" algn="r"/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168708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68708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209137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09137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hape 62">
            <a:extLst>
              <a:ext uri="{FF2B5EF4-FFF2-40B4-BE49-F238E27FC236}">
                <a16:creationId xmlns:a16="http://schemas.microsoft.com/office/drawing/2014/main" id="{22325F4A-8191-45D3-B031-5847B1E4B3AA}"/>
              </a:ext>
            </a:extLst>
          </p:cNvPr>
          <p:cNvSpPr/>
          <p:nvPr userDrawn="1"/>
        </p:nvSpPr>
        <p:spPr>
          <a:xfrm rot="16200000" flipV="1">
            <a:off x="3332057" y="133183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1687090"/>
            <a:ext cx="4568750" cy="1721802"/>
          </a:xfrm>
          <a:noFill/>
        </p:spPr>
        <p:txBody>
          <a:bodyPr lIns="0" rIns="324000" anchor="ctr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>
              <a:latin typeface="+mn-lt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3666354"/>
            <a:ext cx="3448800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4055" y="3666354"/>
            <a:ext cx="3450265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4070639"/>
            <a:ext cx="3448800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4055" y="4070639"/>
            <a:ext cx="3450265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hape 62">
            <a:extLst>
              <a:ext uri="{FF2B5EF4-FFF2-40B4-BE49-F238E27FC236}">
                <a16:creationId xmlns:a16="http://schemas.microsoft.com/office/drawing/2014/main" id="{DADD8B14-6C18-4FC5-89FD-62D525A444DB}"/>
              </a:ext>
            </a:extLst>
          </p:cNvPr>
          <p:cNvSpPr/>
          <p:nvPr userDrawn="1"/>
        </p:nvSpPr>
        <p:spPr>
          <a:xfrm rot="16200000" flipV="1">
            <a:off x="3332057" y="729943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14412" y="3805254"/>
            <a:ext cx="1935925" cy="185477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0816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9607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8658" y="836271"/>
            <a:ext cx="4263342" cy="518545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597" y="836271"/>
            <a:ext cx="4262400" cy="5185458"/>
          </a:xfrm>
          <a:solidFill>
            <a:schemeClr val="accent2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033" y="1659770"/>
            <a:ext cx="2558005" cy="1325563"/>
          </a:xfrm>
        </p:spPr>
        <p:txBody>
          <a:bodyPr anchor="t"/>
          <a:lstStyle>
            <a:lvl1pPr algn="r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206186"/>
            <a:ext cx="12192000" cy="3651813"/>
          </a:xfr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836" y="836271"/>
            <a:ext cx="3523423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052" y="3206186"/>
            <a:ext cx="6435525" cy="2815543"/>
          </a:xfrm>
          <a:noFill/>
          <a:ln>
            <a:noFill/>
          </a:ln>
        </p:spPr>
        <p:txBody>
          <a:bodyPr lIns="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lIns="0"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36271"/>
            <a:ext cx="3657059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5620" y="3428990"/>
            <a:ext cx="7446380" cy="342900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59770"/>
            <a:ext cx="3085618" cy="1325563"/>
          </a:xfrm>
        </p:spPr>
        <p:txBody>
          <a:bodyPr lIns="0" anchor="t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1400" b="0" i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9078" y="987207"/>
            <a:ext cx="2837822" cy="382749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1371" y="987208"/>
            <a:ext cx="3501106" cy="1397178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66452"/>
            <a:ext cx="5007015" cy="1440000"/>
          </a:xfrm>
          <a:solidFill>
            <a:schemeClr val="bg1"/>
          </a:solidFill>
        </p:spPr>
        <p:txBody>
          <a:bodyPr lIns="216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A10FA-D831-43AB-9DF1-EDB14480E3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478756"/>
            <a:ext cx="4572000" cy="118903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FBD120B-8377-4641-9618-9DD68265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05635"/>
            <a:ext cx="5845215" cy="1440000"/>
          </a:xfrm>
          <a:solidFill>
            <a:schemeClr val="bg1"/>
          </a:solidFill>
        </p:spPr>
        <p:txBody>
          <a:bodyPr lIns="792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"/>
            <a:ext cx="11353800" cy="55473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53441"/>
            <a:ext cx="11353800" cy="51511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9884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4209" y="1203769"/>
            <a:ext cx="9563582" cy="506006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595BB60-922F-4254-AD20-DEA3FA4B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08" y="339162"/>
            <a:ext cx="9563581" cy="823070"/>
          </a:xfrm>
          <a:noFill/>
        </p:spPr>
        <p:txBody>
          <a:bodyPr lIns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65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030" y="747000"/>
            <a:ext cx="10519940" cy="5364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67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634288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719574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804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4699000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525780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8BD7D8D-4534-4674-90CD-5444E7502E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2636" y="446300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49687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C75DEA4-0A76-480D-A95E-49B8E0DD97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5647" y="3145492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5DAAB0">
                    <a:alpha val="20000"/>
                  </a:srgb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934210"/>
            <a:ext cx="527304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793532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2691447"/>
            <a:ext cx="6272321" cy="1694180"/>
          </a:xfrm>
        </p:spPr>
        <p:txBody>
          <a:bodyPr lIns="0" anchor="b"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A110188-91CF-42CE-9B0F-643DB15F9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1826" y="2613057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3B7579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63052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chemeClr val="accent2">
              <a:alpha val="99000"/>
            </a:schemeClr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684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64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4DECF-152F-4E39-AD49-1ADCE9F759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1375" y="3097232"/>
            <a:ext cx="4008120" cy="2742196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37508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30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60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791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521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392375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391662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33730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103933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460447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459734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01802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223461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369547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15261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82" y="971950"/>
            <a:ext cx="3537030" cy="2036100"/>
          </a:xfrm>
        </p:spPr>
        <p:txBody>
          <a:bodyPr lIns="0"/>
          <a:lstStyle>
            <a:lvl1pPr>
              <a:defRPr>
                <a:solidFill>
                  <a:srgbClr val="5DAAB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30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70602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6930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70602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42770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2770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56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956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2770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42770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44956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4956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6" name="Shape 62">
            <a:extLst>
              <a:ext uri="{FF2B5EF4-FFF2-40B4-BE49-F238E27FC236}">
                <a16:creationId xmlns:a16="http://schemas.microsoft.com/office/drawing/2014/main" id="{E2A7A773-8673-42D6-B565-4013CBE76BBD}"/>
              </a:ext>
            </a:extLst>
          </p:cNvPr>
          <p:cNvSpPr/>
          <p:nvPr userDrawn="1"/>
        </p:nvSpPr>
        <p:spPr>
          <a:xfrm rot="16200000" flipV="1">
            <a:off x="965155" y="-18490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6877645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E8D18BE-27C3-4048-91A7-DD0F0F8D0861}"/>
              </a:ext>
            </a:extLst>
          </p:cNvPr>
          <p:cNvSpPr/>
          <p:nvPr userDrawn="1"/>
        </p:nvSpPr>
        <p:spPr>
          <a:xfrm>
            <a:off x="4190264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887" y="616350"/>
            <a:ext cx="7978227" cy="1062602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6007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73705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6007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3705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4731" y="3168715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4731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1403" y="3168715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403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04731" y="5167572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4731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1403" y="5167572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1403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623159-5A5F-49ED-8FE8-D17FB82C8BB9}"/>
              </a:ext>
            </a:extLst>
          </p:cNvPr>
          <p:cNvSpPr/>
          <p:nvPr userDrawn="1"/>
        </p:nvSpPr>
        <p:spPr>
          <a:xfrm>
            <a:off x="6157960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F630FE-FEDE-4DCF-98BE-57FA329D971D}"/>
              </a:ext>
            </a:extLst>
          </p:cNvPr>
          <p:cNvSpPr/>
          <p:nvPr userDrawn="1"/>
        </p:nvSpPr>
        <p:spPr>
          <a:xfrm>
            <a:off x="4190264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EE0F46-6DA2-40B8-B7F9-015FA8D24163}"/>
              </a:ext>
            </a:extLst>
          </p:cNvPr>
          <p:cNvSpPr/>
          <p:nvPr userDrawn="1"/>
        </p:nvSpPr>
        <p:spPr>
          <a:xfrm>
            <a:off x="6157960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392680"/>
            <a:ext cx="10719842" cy="416750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15420" y="2392680"/>
            <a:ext cx="5742622" cy="402399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92045"/>
            <a:ext cx="4776788" cy="402399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89560"/>
            <a:ext cx="10896600" cy="893218"/>
          </a:xfrm>
        </p:spPr>
        <p:txBody>
          <a:bodyPr anchor="b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097363"/>
            <a:ext cx="10896600" cy="602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7700" y="1806575"/>
            <a:ext cx="10896600" cy="457835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659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" y="524172"/>
            <a:ext cx="2578099" cy="2508588"/>
          </a:xfrm>
        </p:spPr>
        <p:txBody>
          <a:bodyPr lIns="0" anchor="t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7A2F74A-3B1A-417B-8998-62F0E7EF0E74}"/>
              </a:ext>
            </a:extLst>
          </p:cNvPr>
          <p:cNvSpPr/>
          <p:nvPr userDrawn="1"/>
        </p:nvSpPr>
        <p:spPr>
          <a:xfrm rot="16200000" flipV="1">
            <a:off x="965155" y="-70306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2529377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725" y="198755"/>
            <a:ext cx="3856038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2285" y="198755"/>
            <a:ext cx="7651115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3361" y="4648200"/>
            <a:ext cx="7651116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2919" y="4648200"/>
            <a:ext cx="3855721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35" r:id="rId2"/>
    <p:sldLayoutId id="2147483689" r:id="rId3"/>
    <p:sldLayoutId id="2147483684" r:id="rId4"/>
    <p:sldLayoutId id="2147483651" r:id="rId5"/>
    <p:sldLayoutId id="2147483685" r:id="rId6"/>
    <p:sldLayoutId id="2147483674" r:id="rId7"/>
    <p:sldLayoutId id="2147483690" r:id="rId8"/>
    <p:sldLayoutId id="2147483694" r:id="rId9"/>
    <p:sldLayoutId id="2147483693" r:id="rId10"/>
    <p:sldLayoutId id="2147483686" r:id="rId11"/>
    <p:sldLayoutId id="2147483703" r:id="rId12"/>
    <p:sldLayoutId id="2147483709" r:id="rId13"/>
    <p:sldLayoutId id="2147483710" r:id="rId14"/>
    <p:sldLayoutId id="2147483711" r:id="rId15"/>
    <p:sldLayoutId id="2147483712" r:id="rId16"/>
    <p:sldLayoutId id="2147483704" r:id="rId17"/>
    <p:sldLayoutId id="2147483702" r:id="rId18"/>
    <p:sldLayoutId id="2147483713" r:id="rId19"/>
    <p:sldLayoutId id="2147483714" r:id="rId20"/>
    <p:sldLayoutId id="2147483715" r:id="rId21"/>
    <p:sldLayoutId id="2147483695" r:id="rId22"/>
    <p:sldLayoutId id="2147483730" r:id="rId23"/>
    <p:sldLayoutId id="2147483698" r:id="rId24"/>
    <p:sldLayoutId id="2147483731" r:id="rId25"/>
    <p:sldLayoutId id="2147483699" r:id="rId26"/>
    <p:sldLayoutId id="2147483732" r:id="rId27"/>
    <p:sldLayoutId id="2147483700" r:id="rId28"/>
    <p:sldLayoutId id="2147483733" r:id="rId29"/>
    <p:sldLayoutId id="2147483701" r:id="rId30"/>
    <p:sldLayoutId id="2147483734" r:id="rId31"/>
    <p:sldLayoutId id="2147483696" r:id="rId32"/>
    <p:sldLayoutId id="2147483705" r:id="rId33"/>
    <p:sldLayoutId id="2147483706" r:id="rId34"/>
    <p:sldLayoutId id="2147483707" r:id="rId35"/>
    <p:sldLayoutId id="2147483708" r:id="rId36"/>
    <p:sldLayoutId id="2147483687" r:id="rId37"/>
    <p:sldLayoutId id="2147483660" r:id="rId38"/>
    <p:sldLayoutId id="2147483719" r:id="rId39"/>
    <p:sldLayoutId id="2147483720" r:id="rId40"/>
    <p:sldLayoutId id="2147483718" r:id="rId41"/>
    <p:sldLayoutId id="2147483721" r:id="rId42"/>
    <p:sldLayoutId id="2147483716" r:id="rId43"/>
    <p:sldLayoutId id="2147483722" r:id="rId44"/>
    <p:sldLayoutId id="2147483723" r:id="rId45"/>
    <p:sldLayoutId id="2147483725" r:id="rId46"/>
    <p:sldLayoutId id="2147483726" r:id="rId47"/>
    <p:sldLayoutId id="2147483675" r:id="rId48"/>
    <p:sldLayoutId id="2147483677" r:id="rId49"/>
    <p:sldLayoutId id="2147483729" r:id="rId50"/>
    <p:sldLayoutId id="2147483728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1ABD-7339-4C70-82A3-696BE8EF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12614"/>
            <a:ext cx="7252505" cy="891250"/>
          </a:xfrm>
        </p:spPr>
        <p:txBody>
          <a:bodyPr/>
          <a:lstStyle/>
          <a:p>
            <a:r>
              <a:rPr lang="en-US" sz="3200" dirty="0"/>
              <a:t>Strategic Growth: Converting Casual </a:t>
            </a:r>
            <a:r>
              <a:rPr lang="en-US" sz="3200" dirty="0" err="1"/>
              <a:t>Cyclistic</a:t>
            </a:r>
            <a:r>
              <a:rPr lang="en-US" sz="3200" dirty="0"/>
              <a:t> Riders to Annual Members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9EBC96-F2B6-43D3-A761-898E1D269B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090444"/>
            <a:ext cx="7252504" cy="705949"/>
          </a:xfrm>
        </p:spPr>
        <p:txBody>
          <a:bodyPr>
            <a:normAutofit/>
          </a:bodyPr>
          <a:lstStyle/>
          <a:p>
            <a:r>
              <a:rPr lang="en-CA" dirty="0"/>
              <a:t>Data-Driven Marketing Recommendations for 2026</a:t>
            </a:r>
            <a:endParaRPr lang="en-US" dirty="0"/>
          </a:p>
        </p:txBody>
      </p:sp>
      <p:pic>
        <p:nvPicPr>
          <p:cNvPr id="13" name="Picture Placeholder 5" descr="Buildings">
            <a:extLst>
              <a:ext uri="{FF2B5EF4-FFF2-40B4-BE49-F238E27FC236}">
                <a16:creationId xmlns:a16="http://schemas.microsoft.com/office/drawing/2014/main" id="{002497D9-8F14-40C3-90A2-8264564E1F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692D46-0D69-F498-3415-99A405869997}"/>
              </a:ext>
            </a:extLst>
          </p:cNvPr>
          <p:cNvSpPr txBox="1"/>
          <p:nvPr/>
        </p:nvSpPr>
        <p:spPr>
          <a:xfrm>
            <a:off x="130628" y="5866949"/>
            <a:ext cx="213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Kristina </a:t>
            </a:r>
            <a:r>
              <a:rPr lang="hr-BA" sz="2000" dirty="0">
                <a:solidFill>
                  <a:schemeClr val="bg1"/>
                </a:solidFill>
              </a:rPr>
              <a:t>Č</a:t>
            </a:r>
            <a:r>
              <a:rPr lang="en-US" sz="2000" dirty="0">
                <a:solidFill>
                  <a:schemeClr val="bg1"/>
                </a:solidFill>
              </a:rPr>
              <a:t>e</a:t>
            </a:r>
            <a:r>
              <a:rPr lang="hr-BA" sz="2000" dirty="0">
                <a:solidFill>
                  <a:schemeClr val="bg1"/>
                </a:solidFill>
              </a:rPr>
              <a:t>č</a:t>
            </a:r>
            <a:r>
              <a:rPr lang="en-US" sz="2000" dirty="0" err="1">
                <a:solidFill>
                  <a:schemeClr val="bg1"/>
                </a:solidFill>
              </a:rPr>
              <a:t>ura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Junior Data Analyst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27097-C6E7-C70B-E9AF-9209A9EF02A4}"/>
              </a:ext>
            </a:extLst>
          </p:cNvPr>
          <p:cNvSpPr txBox="1"/>
          <p:nvPr/>
        </p:nvSpPr>
        <p:spPr>
          <a:xfrm>
            <a:off x="6792686" y="6007034"/>
            <a:ext cx="1926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December 2025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65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12AB6B-2397-478A-BF32-BF0AFF5D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4867539"/>
            <a:ext cx="2727803" cy="10255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2AF4ED1-B97A-D60B-7BCA-4C4EB7C15D5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634867" y="2638525"/>
            <a:ext cx="3794629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Task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Preparation &amp; Cleaning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Rider Behavioral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Marketing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7395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19" y="783834"/>
            <a:ext cx="5297767" cy="1812488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5DAAB0"/>
                </a:solidFill>
              </a:rPr>
              <a:t>How do annual members and casual riders</a:t>
            </a:r>
            <a:br>
              <a:rPr lang="en-US" sz="3200" dirty="0">
                <a:solidFill>
                  <a:srgbClr val="5DAAB0"/>
                </a:solidFill>
              </a:rPr>
            </a:br>
            <a:r>
              <a:rPr lang="en-US" sz="3200" dirty="0">
                <a:solidFill>
                  <a:srgbClr val="5DAAB0"/>
                </a:solidFill>
              </a:rPr>
              <a:t>use </a:t>
            </a:r>
            <a:r>
              <a:rPr lang="en-US" sz="3200" dirty="0" err="1">
                <a:solidFill>
                  <a:srgbClr val="5DAAB0"/>
                </a:solidFill>
              </a:rPr>
              <a:t>Cyclistic’s</a:t>
            </a:r>
            <a:r>
              <a:rPr lang="en-US" sz="3200" dirty="0">
                <a:solidFill>
                  <a:srgbClr val="5DAAB0"/>
                </a:solidFill>
              </a:rPr>
              <a:t> bikes differently?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4049" y="788022"/>
            <a:ext cx="4155432" cy="2560759"/>
          </a:xfrm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The objective is to </a:t>
            </a:r>
            <a:r>
              <a:rPr lang="en-US" b="1" dirty="0"/>
              <a:t>maximize</a:t>
            </a:r>
            <a:r>
              <a:rPr lang="en-US" dirty="0"/>
              <a:t> </a:t>
            </a:r>
            <a:r>
              <a:rPr lang="en-US" dirty="0" err="1"/>
              <a:t>Cyclistic’s</a:t>
            </a:r>
            <a:r>
              <a:rPr lang="en-US" dirty="0"/>
              <a:t> profitable </a:t>
            </a:r>
            <a:r>
              <a:rPr lang="en-US" b="1" dirty="0"/>
              <a:t>annual membership </a:t>
            </a:r>
            <a:r>
              <a:rPr lang="en-US" dirty="0"/>
              <a:t>base by converting existing casual riders into members.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Analyzing how annual members and casual riders use </a:t>
            </a:r>
            <a:r>
              <a:rPr lang="en-US" dirty="0" err="1"/>
              <a:t>Cyclistic’s</a:t>
            </a:r>
            <a:r>
              <a:rPr lang="en-US" dirty="0"/>
              <a:t> bikes differently will inform a </a:t>
            </a:r>
            <a:r>
              <a:rPr lang="en-US" b="1" dirty="0"/>
              <a:t>targeted marketing strategy </a:t>
            </a:r>
            <a:r>
              <a:rPr lang="en-US" dirty="0"/>
              <a:t>designed to achieve this conversion goal.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Primary Stakeholder:</a:t>
            </a:r>
            <a:r>
              <a:rPr lang="en-US" dirty="0"/>
              <a:t> Lily Moreno, Director of Marketing</a:t>
            </a:r>
          </a:p>
        </p:txBody>
      </p:sp>
      <p:pic>
        <p:nvPicPr>
          <p:cNvPr id="5" name="Picture Placeholder 4" descr="A closeup of a bicycle chain, frame, and pedals">
            <a:extLst>
              <a:ext uri="{FF2B5EF4-FFF2-40B4-BE49-F238E27FC236}">
                <a16:creationId xmlns:a16="http://schemas.microsoft.com/office/drawing/2014/main" id="{FA3F8A27-7AF4-BE58-B53C-A22A157331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9346" b="293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05044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981189-9280-48E8-90AE-7F25E74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704" y="233373"/>
            <a:ext cx="3611133" cy="1325563"/>
          </a:xfrm>
        </p:spPr>
        <p:txBody>
          <a:bodyPr>
            <a:normAutofit/>
          </a:bodyPr>
          <a:lstStyle/>
          <a:p>
            <a:r>
              <a:rPr lang="en-US" dirty="0"/>
              <a:t>Data Integrity </a:t>
            </a:r>
            <a:r>
              <a:rPr lang="en-US" dirty="0">
                <a:solidFill>
                  <a:schemeClr val="accent1"/>
                </a:solidFill>
              </a:rPr>
              <a:t>&amp;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Credibility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9ED32E-028C-428E-97AF-168C8D6F92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29" y="2392676"/>
            <a:ext cx="3504775" cy="3741737"/>
          </a:xfrm>
        </p:spPr>
        <p:txBody>
          <a:bodyPr>
            <a:normAutofit/>
          </a:bodyPr>
          <a:lstStyle/>
          <a:p>
            <a:r>
              <a:rPr lang="en-US" b="1" dirty="0"/>
              <a:t>Reliable &amp; Original</a:t>
            </a:r>
            <a:r>
              <a:rPr lang="en-US" dirty="0"/>
              <a:t>: Primary source data collected directly by </a:t>
            </a:r>
            <a:r>
              <a:rPr lang="en-US" b="1" dirty="0"/>
              <a:t>Bikeshare</a:t>
            </a:r>
            <a:r>
              <a:rPr lang="en-US" dirty="0"/>
              <a:t> and owned by the </a:t>
            </a:r>
            <a:r>
              <a:rPr lang="en-US" b="1" dirty="0"/>
              <a:t>City of Chicago</a:t>
            </a:r>
            <a:r>
              <a:rPr lang="en-US" dirty="0"/>
              <a:t>.</a:t>
            </a:r>
          </a:p>
          <a:p>
            <a:r>
              <a:rPr lang="en-US" b="1" dirty="0"/>
              <a:t>Comprehensive</a:t>
            </a:r>
            <a:r>
              <a:rPr lang="en-US" dirty="0"/>
              <a:t>: Full dataset includes all necessary variables to perform deep behavioral profiling: ride duration, timestamps, and station locations </a:t>
            </a:r>
          </a:p>
          <a:p>
            <a:r>
              <a:rPr lang="en-US" b="1" dirty="0"/>
              <a:t>Current</a:t>
            </a:r>
            <a:r>
              <a:rPr lang="en-US" dirty="0"/>
              <a:t>: Analysis utilizes the most recent 12-month trailing period, accounting for post-pandemic urban mobility shifts.</a:t>
            </a:r>
          </a:p>
          <a:p>
            <a:r>
              <a:rPr lang="en-US" b="1" dirty="0"/>
              <a:t>Cited &amp; Licensed</a:t>
            </a:r>
            <a:r>
              <a:rPr lang="en-US" dirty="0"/>
              <a:t>: Data is accessed and used in strict accordance with the </a:t>
            </a:r>
            <a:r>
              <a:rPr lang="en-US" b="1" dirty="0"/>
              <a:t>Divvy Data License Agreement.</a:t>
            </a:r>
          </a:p>
          <a:p>
            <a:r>
              <a:rPr lang="en-US" b="1" dirty="0"/>
              <a:t>Source: </a:t>
            </a:r>
            <a:r>
              <a:rPr lang="en-US" dirty="0"/>
              <a:t>Chicago Department of Transportation (CDOT)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A80135C1-4F88-5D56-F85E-31BA670798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8306417"/>
              </p:ext>
            </p:extLst>
          </p:nvPr>
        </p:nvGraphicFramePr>
        <p:xfrm>
          <a:off x="5324147" y="2392675"/>
          <a:ext cx="6207924" cy="374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98998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92A5-8160-024C-6A39-4C839C13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F977E24-E53C-60AD-00E2-170F83106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29" y="477922"/>
            <a:ext cx="4369981" cy="1325563"/>
          </a:xfrm>
        </p:spPr>
        <p:txBody>
          <a:bodyPr>
            <a:normAutofit/>
          </a:bodyPr>
          <a:lstStyle/>
          <a:p>
            <a:r>
              <a:rPr lang="en-CA" dirty="0"/>
              <a:t>Dataset at a Glance</a:t>
            </a:r>
            <a:br>
              <a:rPr lang="en-CA" dirty="0"/>
            </a:br>
            <a:r>
              <a:rPr lang="en-CA" sz="3600" dirty="0">
                <a:solidFill>
                  <a:schemeClr val="accent1"/>
                </a:solidFill>
              </a:rPr>
              <a:t>Member vs. Casual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D61EFE7-D44E-22B2-71BB-964EBFFB5C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29" y="2392676"/>
            <a:ext cx="3504775" cy="37417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Analysis Scope</a:t>
            </a:r>
            <a:endParaRPr lang="en-US" dirty="0"/>
          </a:p>
          <a:p>
            <a:r>
              <a:rPr lang="en-US" b="1" dirty="0"/>
              <a:t>Timeframe:</a:t>
            </a:r>
            <a:r>
              <a:rPr lang="en-US" dirty="0"/>
              <a:t> 12-month period (Dec 2024 - Nov 2025).</a:t>
            </a:r>
          </a:p>
          <a:p>
            <a:r>
              <a:rPr lang="en-US" b="1" dirty="0"/>
              <a:t>Total Volume:</a:t>
            </a:r>
            <a:r>
              <a:rPr lang="en-US" dirty="0"/>
              <a:t> 5.4 Million verified rides analyzed post-cleaning.</a:t>
            </a:r>
          </a:p>
          <a:p>
            <a:r>
              <a:rPr lang="en-US" b="1" dirty="0"/>
              <a:t>Technical Rigor:</a:t>
            </a:r>
            <a:r>
              <a:rPr lang="en-US" dirty="0"/>
              <a:t> Data transformed via </a:t>
            </a:r>
            <a:r>
              <a:rPr lang="en-US" b="1" dirty="0"/>
              <a:t>SQL</a:t>
            </a:r>
            <a:r>
              <a:rPr lang="en-US" dirty="0"/>
              <a:t> to calculate trip duration, day types, and seasonal identifiers.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Current Landscape</a:t>
            </a:r>
            <a:endParaRPr lang="en-US" dirty="0"/>
          </a:p>
          <a:p>
            <a:r>
              <a:rPr lang="en-US" b="1" dirty="0"/>
              <a:t>Core Users:</a:t>
            </a:r>
            <a:r>
              <a:rPr lang="en-US" dirty="0"/>
              <a:t> Annual members provide the consistent, high-volume foundation of the service.</a:t>
            </a:r>
          </a:p>
          <a:p>
            <a:r>
              <a:rPr lang="en-US" b="1" dirty="0"/>
              <a:t>Opportunity Segment:</a:t>
            </a:r>
            <a:r>
              <a:rPr lang="en-US" dirty="0"/>
              <a:t> Casual riders represent a significant portion of total trips, primarily concentrated in leisure-heavy timeframes.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130F8B-3FC3-B139-87C0-D35E042BC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790" y="3063040"/>
            <a:ext cx="3741102" cy="240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DBE169-BA91-4B17-9AF2-4BAD528B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86" y="1340816"/>
            <a:ext cx="5650029" cy="9313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5DAAB0"/>
                </a:solidFill>
              </a:rPr>
              <a:t>How do annual members and casual riders use </a:t>
            </a:r>
            <a:r>
              <a:rPr lang="en-US" sz="2800" dirty="0" err="1">
                <a:solidFill>
                  <a:srgbClr val="5DAAB0"/>
                </a:solidFill>
              </a:rPr>
              <a:t>Cyclistic</a:t>
            </a:r>
            <a:r>
              <a:rPr lang="en-US" sz="2800" dirty="0">
                <a:solidFill>
                  <a:srgbClr val="5DAAB0"/>
                </a:solidFill>
              </a:rPr>
              <a:t> bikes differently?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C2EAA8-D3C6-403B-B439-F95C60D0B3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2881" y="2561159"/>
            <a:ext cx="4008437" cy="6028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Behavioral Analysis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FCC6D1-213C-4A86-A2D0-742E15438C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Time of Day</a:t>
            </a:r>
            <a:endParaRPr lang="en-US" b="1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4D74-66D2-4C65-A48E-39F723FB2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CA" b="1" dirty="0"/>
              <a:t>Trip Duration</a:t>
            </a:r>
            <a:endParaRPr lang="en-US" b="1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4D7EF6E-37B1-4694-B769-3DDEC29D83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CA" b="1" dirty="0"/>
              <a:t>Seasonality</a:t>
            </a:r>
            <a:endParaRPr lang="en-US" b="1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BF89FBA-20AC-4FD7-833B-ADA0EEFFCA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CA" b="1" dirty="0"/>
              <a:t>Geography</a:t>
            </a:r>
            <a:endParaRPr lang="en-US" b="1" dirty="0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AEF3ED8-A75C-4318-877C-139C98C000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059" y="3354821"/>
            <a:ext cx="4164079" cy="6028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</a:t>
            </a:r>
            <a:r>
              <a:rPr lang="en-US" b="1" dirty="0"/>
              <a:t>differences</a:t>
            </a:r>
            <a:r>
              <a:rPr lang="en-US" dirty="0"/>
              <a:t> in rider behavior were identified across </a:t>
            </a:r>
            <a:r>
              <a:rPr lang="en-US" b="1" dirty="0"/>
              <a:t>four</a:t>
            </a:r>
            <a:r>
              <a:rPr lang="en-US" dirty="0"/>
              <a:t> primary </a:t>
            </a:r>
            <a:r>
              <a:rPr lang="en-US" b="1" dirty="0"/>
              <a:t>dimensions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pic>
        <p:nvPicPr>
          <p:cNvPr id="6" name="Picture Placeholder 5" descr="Clock outline">
            <a:extLst>
              <a:ext uri="{FF2B5EF4-FFF2-40B4-BE49-F238E27FC236}">
                <a16:creationId xmlns:a16="http://schemas.microsoft.com/office/drawing/2014/main" id="{B8E7D68E-0F7E-A38B-B0EC-2E368E2BBC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9" r="99"/>
          <a:stretch>
            <a:fillRect/>
          </a:stretch>
        </p:blipFill>
        <p:spPr>
          <a:xfrm>
            <a:off x="6687422" y="1038724"/>
            <a:ext cx="804759" cy="804759"/>
          </a:xfrm>
        </p:spPr>
      </p:pic>
      <p:pic>
        <p:nvPicPr>
          <p:cNvPr id="12" name="Picture Placeholder 11" descr="Hourglass 60% outline">
            <a:extLst>
              <a:ext uri="{FF2B5EF4-FFF2-40B4-BE49-F238E27FC236}">
                <a16:creationId xmlns:a16="http://schemas.microsoft.com/office/drawing/2014/main" id="{665E068C-DCE2-E33F-CD4C-8F48516ADC0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9" r="99"/>
          <a:stretch>
            <a:fillRect/>
          </a:stretch>
        </p:blipFill>
        <p:spPr/>
      </p:pic>
      <p:pic>
        <p:nvPicPr>
          <p:cNvPr id="16" name="Picture Placeholder 15" descr="Partial sun outline">
            <a:extLst>
              <a:ext uri="{FF2B5EF4-FFF2-40B4-BE49-F238E27FC236}">
                <a16:creationId xmlns:a16="http://schemas.microsoft.com/office/drawing/2014/main" id="{9A98F26A-85FA-A729-1E3B-0863403928A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99" r="99"/>
          <a:stretch>
            <a:fillRect/>
          </a:stretch>
        </p:blipFill>
        <p:spPr/>
      </p:pic>
      <p:pic>
        <p:nvPicPr>
          <p:cNvPr id="23" name="Picture Placeholder 22" descr="Map with pin outline">
            <a:extLst>
              <a:ext uri="{FF2B5EF4-FFF2-40B4-BE49-F238E27FC236}">
                <a16:creationId xmlns:a16="http://schemas.microsoft.com/office/drawing/2014/main" id="{EE9C7404-C189-C664-DC96-EBB32C6C87C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99" r="9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684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C553-E581-3186-E934-8DCD6D15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D74C6B6-CC6E-C107-6DF3-2447871D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05" y="579209"/>
            <a:ext cx="4750483" cy="9562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The "Tourist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vs. Commuter" Pattern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9B587F-56BD-7C34-50F1-CF7613B36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405" y="2187004"/>
            <a:ext cx="3016712" cy="331969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Annual Members</a:t>
            </a:r>
            <a:r>
              <a:rPr lang="en-US" dirty="0"/>
              <a:t>: Exhibit a distinctive "</a:t>
            </a:r>
            <a:r>
              <a:rPr lang="en-US" dirty="0">
                <a:solidFill>
                  <a:srgbClr val="1F1F26"/>
                </a:solidFill>
              </a:rPr>
              <a:t>M-shaped</a:t>
            </a:r>
            <a:r>
              <a:rPr lang="en-US" dirty="0"/>
              <a:t>" ridership curve, with sharp peaks during </a:t>
            </a:r>
            <a:r>
              <a:rPr lang="en-US" b="1" dirty="0"/>
              <a:t>standard commuting hours </a:t>
            </a:r>
            <a:r>
              <a:rPr lang="en-US" dirty="0"/>
              <a:t>(8:00 AM and 5:00 PM) on </a:t>
            </a:r>
            <a:r>
              <a:rPr lang="en-US" b="1" dirty="0"/>
              <a:t>weekdays.</a:t>
            </a:r>
          </a:p>
          <a:p>
            <a:r>
              <a:rPr lang="en-US" b="1" dirty="0"/>
              <a:t>Casual Riders</a:t>
            </a:r>
            <a:r>
              <a:rPr lang="en-US" dirty="0"/>
              <a:t>: Display a steady, building growth in volume throughout the day, peaking in the </a:t>
            </a:r>
            <a:r>
              <a:rPr lang="en-US" b="1" dirty="0"/>
              <a:t>afternoon</a:t>
            </a:r>
            <a:r>
              <a:rPr lang="en-US" dirty="0"/>
              <a:t> and reaching maximum capacity on </a:t>
            </a:r>
            <a:r>
              <a:rPr lang="en-US" b="1" dirty="0"/>
              <a:t>weekends</a:t>
            </a:r>
            <a:r>
              <a:rPr lang="en-US" dirty="0"/>
              <a:t>.</a:t>
            </a:r>
          </a:p>
          <a:p>
            <a:r>
              <a:rPr lang="en-US" b="1" dirty="0"/>
              <a:t>Key Insight</a:t>
            </a:r>
            <a:r>
              <a:rPr lang="en-US" dirty="0"/>
              <a:t>: This data suggests that while Members rely on </a:t>
            </a:r>
            <a:r>
              <a:rPr lang="en-US" dirty="0" err="1"/>
              <a:t>Cyclistic</a:t>
            </a:r>
            <a:r>
              <a:rPr lang="en-US" dirty="0"/>
              <a:t> for </a:t>
            </a:r>
            <a:r>
              <a:rPr lang="en-US" b="1" dirty="0"/>
              <a:t>essential</a:t>
            </a:r>
            <a:r>
              <a:rPr lang="en-US" dirty="0"/>
              <a:t> daily transit, Casual riders primarily view the service as a </a:t>
            </a:r>
            <a:r>
              <a:rPr lang="en-US" b="1" dirty="0"/>
              <a:t>recreational</a:t>
            </a:r>
            <a:r>
              <a:rPr lang="en-US" dirty="0"/>
              <a:t> luxury.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BF12F7-40BF-AF34-386F-21F03ADA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191" y="1771048"/>
            <a:ext cx="7645034" cy="41516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EA1560-902B-69D9-DB6A-F5DDB1103A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973" r="28591"/>
          <a:stretch>
            <a:fillRect/>
          </a:stretch>
        </p:blipFill>
        <p:spPr>
          <a:xfrm>
            <a:off x="5596005" y="2603395"/>
            <a:ext cx="999990" cy="4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8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295-CC6A-18C9-7FD3-B4FD5447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83C85A2-4A57-3EF9-3D9E-C36BB222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29" y="893479"/>
            <a:ext cx="4653216" cy="956241"/>
          </a:xfrm>
        </p:spPr>
        <p:txBody>
          <a:bodyPr>
            <a:normAutofit fontScale="90000"/>
          </a:bodyPr>
          <a:lstStyle/>
          <a:p>
            <a:pPr algn="l"/>
            <a:r>
              <a:rPr lang="en-CA" dirty="0"/>
              <a:t>Trip Duration &amp; </a:t>
            </a:r>
            <a:r>
              <a:rPr lang="en-CA" dirty="0">
                <a:solidFill>
                  <a:schemeClr val="accent1"/>
                </a:solidFill>
              </a:rPr>
              <a:t>Engagement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7CC75-0086-575C-24AF-17F40BA0C9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29" y="2759794"/>
            <a:ext cx="3016712" cy="2726606"/>
          </a:xfrm>
        </p:spPr>
        <p:txBody>
          <a:bodyPr>
            <a:normAutofit/>
          </a:bodyPr>
          <a:lstStyle/>
          <a:p>
            <a:r>
              <a:rPr lang="en-US" b="1" dirty="0"/>
              <a:t>Annual Members</a:t>
            </a:r>
            <a:r>
              <a:rPr lang="en-US" dirty="0"/>
              <a:t>: Average trip length is </a:t>
            </a:r>
            <a:r>
              <a:rPr lang="en-US" b="1" dirty="0"/>
              <a:t>12 minutes</a:t>
            </a:r>
            <a:r>
              <a:rPr lang="en-US" dirty="0"/>
              <a:t>, reflecting direct transit to work or errands.</a:t>
            </a:r>
          </a:p>
          <a:p>
            <a:r>
              <a:rPr lang="en-US" b="1" dirty="0"/>
              <a:t>Casual Riders</a:t>
            </a:r>
            <a:r>
              <a:rPr lang="en-US" dirty="0"/>
              <a:t>: Average trip length is </a:t>
            </a:r>
            <a:r>
              <a:rPr lang="en-US" b="1" dirty="0"/>
              <a:t>20 minutes</a:t>
            </a:r>
            <a:r>
              <a:rPr lang="en-US" dirty="0"/>
              <a:t>, nearly double the duration of members.</a:t>
            </a:r>
          </a:p>
          <a:p>
            <a:r>
              <a:rPr lang="en-US" b="1" dirty="0"/>
              <a:t>Strategic Implication</a:t>
            </a:r>
            <a:r>
              <a:rPr lang="en-US" dirty="0"/>
              <a:t>: Casual riders are high-engagement users but low-frequency. The goal is to show them that membership makes their "long rides" more cost-effective.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FA98BD-0B80-9B76-1913-B926D212B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857" y="1371599"/>
            <a:ext cx="3863870" cy="480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3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3C1A-C7A5-422F-139F-C527F26B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8ACB219-70A8-2BDB-CC9C-BE468780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10" y="817710"/>
            <a:ext cx="3016712" cy="956241"/>
          </a:xfrm>
        </p:spPr>
        <p:txBody>
          <a:bodyPr>
            <a:normAutofit fontScale="90000"/>
          </a:bodyPr>
          <a:lstStyle/>
          <a:p>
            <a:pPr algn="l"/>
            <a:r>
              <a:rPr lang="en-CA" dirty="0"/>
              <a:t>Year-Round </a:t>
            </a:r>
            <a:r>
              <a:rPr lang="en-CA" dirty="0">
                <a:solidFill>
                  <a:schemeClr val="accent1"/>
                </a:solidFill>
              </a:rPr>
              <a:t>Reliability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93C7C5-6C64-469E-9BE3-5E0A227C9A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4510" y="2359340"/>
            <a:ext cx="3016712" cy="3069308"/>
          </a:xfrm>
        </p:spPr>
        <p:txBody>
          <a:bodyPr>
            <a:normAutofit/>
          </a:bodyPr>
          <a:lstStyle/>
          <a:p>
            <a:r>
              <a:rPr lang="en-US" b="1" dirty="0"/>
              <a:t>Peak Season</a:t>
            </a:r>
            <a:r>
              <a:rPr lang="en-US" dirty="0"/>
              <a:t>: Both groups peak in </a:t>
            </a:r>
            <a:r>
              <a:rPr lang="en-US" b="1" dirty="0"/>
              <a:t>July/August</a:t>
            </a:r>
            <a:r>
              <a:rPr lang="en-US" dirty="0"/>
              <a:t>, but Casual volume drops by over 80% during winter months.</a:t>
            </a:r>
          </a:p>
          <a:p>
            <a:r>
              <a:rPr lang="en-US" b="1" dirty="0"/>
              <a:t>Member Retention</a:t>
            </a:r>
            <a:r>
              <a:rPr lang="en-US" dirty="0"/>
              <a:t>: Members maintain a significantly more </a:t>
            </a:r>
            <a:r>
              <a:rPr lang="en-US" b="1" dirty="0"/>
              <a:t>stable</a:t>
            </a:r>
            <a:r>
              <a:rPr lang="en-US" dirty="0"/>
              <a:t> ridership floor during the off-season.</a:t>
            </a:r>
          </a:p>
          <a:p>
            <a:r>
              <a:rPr lang="en-US" b="1" dirty="0"/>
              <a:t>The Window</a:t>
            </a:r>
            <a:r>
              <a:rPr lang="en-US" dirty="0"/>
              <a:t>: May through September is the "Golden Window" for conversion campaigns when Casual volume is at its highest.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3D48D-EDF2-A06F-E210-DBD954C92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82" y="2402893"/>
            <a:ext cx="8245508" cy="2982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15EE6D-AACE-3461-1B6F-5A57EB81BC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973" r="28591"/>
          <a:stretch>
            <a:fillRect/>
          </a:stretch>
        </p:blipFill>
        <p:spPr>
          <a:xfrm>
            <a:off x="4686979" y="2930654"/>
            <a:ext cx="999990" cy="4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67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399F-7C18-CA99-6B6E-9CE3E1DC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7182EDD-A0EF-8CC5-AA93-F49A73E7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74" y="702818"/>
            <a:ext cx="3016712" cy="956241"/>
          </a:xfrm>
        </p:spPr>
        <p:txBody>
          <a:bodyPr>
            <a:normAutofit fontScale="90000"/>
          </a:bodyPr>
          <a:lstStyle/>
          <a:p>
            <a:pPr algn="l"/>
            <a:r>
              <a:rPr lang="en-CA" dirty="0"/>
              <a:t>Geographic </a:t>
            </a:r>
            <a:r>
              <a:rPr lang="en-CA" dirty="0">
                <a:solidFill>
                  <a:schemeClr val="accent1"/>
                </a:solidFill>
              </a:rPr>
              <a:t>Footprint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736E825-F57C-E5B0-DA20-ED676714B5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7422" y="2261048"/>
            <a:ext cx="3016712" cy="3226362"/>
          </a:xfrm>
        </p:spPr>
        <p:txBody>
          <a:bodyPr>
            <a:noAutofit/>
          </a:bodyPr>
          <a:lstStyle/>
          <a:p>
            <a:r>
              <a:rPr lang="en-US" b="1" dirty="0"/>
              <a:t>Casual Hubs</a:t>
            </a:r>
            <a:r>
              <a:rPr lang="en-US" dirty="0"/>
              <a:t>: Concentrated near the </a:t>
            </a:r>
            <a:r>
              <a:rPr lang="en-US" b="1" dirty="0"/>
              <a:t>Lakefront, Parks, and Tourist Landmarks </a:t>
            </a:r>
            <a:r>
              <a:rPr lang="en-US" dirty="0"/>
              <a:t>(e.g., Streeter Dr &amp; Grand Ave).</a:t>
            </a:r>
          </a:p>
          <a:p>
            <a:r>
              <a:rPr lang="en-US" b="1" dirty="0"/>
              <a:t>Member Hubs</a:t>
            </a:r>
            <a:r>
              <a:rPr lang="en-US" dirty="0"/>
              <a:t>: Distributed across </a:t>
            </a:r>
            <a:r>
              <a:rPr lang="en-US" b="1" dirty="0"/>
              <a:t>Residential Neighborhoods </a:t>
            </a:r>
            <a:r>
              <a:rPr lang="en-US" dirty="0"/>
              <a:t>and </a:t>
            </a:r>
            <a:r>
              <a:rPr lang="en-US" b="1" dirty="0"/>
              <a:t>Commercial Centers</a:t>
            </a:r>
            <a:r>
              <a:rPr lang="en-US" dirty="0"/>
              <a:t>.</a:t>
            </a:r>
          </a:p>
          <a:p>
            <a:r>
              <a:rPr lang="en-US" dirty="0"/>
              <a:t>The geographic footprint supports the "</a:t>
            </a:r>
            <a:r>
              <a:rPr lang="en-US" b="1" dirty="0"/>
              <a:t>Tourist vs. Commuter</a:t>
            </a:r>
            <a:r>
              <a:rPr lang="en-US" dirty="0"/>
              <a:t>" hypothesis.</a:t>
            </a:r>
          </a:p>
          <a:p>
            <a:r>
              <a:rPr lang="en-US" b="1" dirty="0"/>
              <a:t>Action</a:t>
            </a:r>
            <a:r>
              <a:rPr lang="en-US" dirty="0"/>
              <a:t>: Physical marketing for memberships should be saturated at the top 10 "Casual-Heavy" stations.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E1D4781-5DAC-7C65-C2F4-6F168389B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653" y="1659059"/>
            <a:ext cx="3716924" cy="43927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4C5513-8DAF-F49C-33EE-1E35D42BC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075" y="1659059"/>
            <a:ext cx="3843637" cy="439272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D9F9001-E98B-0464-EF48-D7E6EDEE7676}"/>
              </a:ext>
            </a:extLst>
          </p:cNvPr>
          <p:cNvSpPr txBox="1"/>
          <p:nvPr/>
        </p:nvSpPr>
        <p:spPr>
          <a:xfrm>
            <a:off x="4786463" y="1266644"/>
            <a:ext cx="1918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Casual Rider Hotspots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0C239-9BF8-3321-33EC-B3554F8D5D7B}"/>
              </a:ext>
            </a:extLst>
          </p:cNvPr>
          <p:cNvSpPr txBox="1"/>
          <p:nvPr/>
        </p:nvSpPr>
        <p:spPr>
          <a:xfrm>
            <a:off x="8894960" y="1260210"/>
            <a:ext cx="2082310" cy="265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Annual Member Hotspots</a:t>
            </a:r>
          </a:p>
        </p:txBody>
      </p:sp>
    </p:spTree>
    <p:extLst>
      <p:ext uri="{BB962C8B-B14F-4D97-AF65-F5344CB8AC3E}">
        <p14:creationId xmlns:p14="http://schemas.microsoft.com/office/powerpoint/2010/main" val="252286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A373-1512-0504-45CA-B855516B1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1958F68-9E60-6A7D-3301-DA9B2BBD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3" y="289981"/>
            <a:ext cx="4602241" cy="192302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Proposed Strategy: The "Casual-to-Commuter" Pipeline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0E8785-55DC-AB68-0062-1F031C5A02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9631" y="289981"/>
            <a:ext cx="4155432" cy="2942454"/>
          </a:xfrm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1. Targeted Seasonal Memberships</a:t>
            </a:r>
            <a:r>
              <a:rPr lang="en-US" dirty="0"/>
              <a:t>: Launch a "Weekend Warrior" or "Summer Pass" (3 - month tier) to bridge the gap for recreational users.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2. Station-Based Digital Ads</a:t>
            </a:r>
            <a:r>
              <a:rPr lang="en-US" dirty="0"/>
              <a:t>: Use geo-fencing to push membership promos to users' phones when they start/end rides at high-volume leisure stations.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3. Benefit Messaging</a:t>
            </a:r>
            <a:r>
              <a:rPr lang="en-US" dirty="0"/>
              <a:t>: Shift marketing copy from "Faster Commute" to "Unlimited Weekend Exploration" to appeal to the Casual rider's actual behavior.</a:t>
            </a:r>
          </a:p>
        </p:txBody>
      </p:sp>
      <p:pic>
        <p:nvPicPr>
          <p:cNvPr id="5" name="Picture Placeholder 4" descr="A closeup of a bicycle chain, frame, and pedals">
            <a:extLst>
              <a:ext uri="{FF2B5EF4-FFF2-40B4-BE49-F238E27FC236}">
                <a16:creationId xmlns:a16="http://schemas.microsoft.com/office/drawing/2014/main" id="{A8F22BB2-C9C5-8FE4-5328-D72CC98449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9346" b="293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417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ELT_Template01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5DAAB0"/>
      </a:accent1>
      <a:accent2>
        <a:srgbClr val="DFE3E9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_ELT_Template01">
      <a:majorFont>
        <a:latin typeface="Constant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ICK TO ADD TITLE" id="{F1EBDCD4-0DFE-4BFC-B527-76D7C1C6466B}" vid="{B36D0821-FAFD-4A44-B0A3-9261322768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clean sophisticated presentation</Template>
  <TotalTime>33017</TotalTime>
  <Words>721</Words>
  <Application>Microsoft Office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Constantia</vt:lpstr>
      <vt:lpstr>Wingdings</vt:lpstr>
      <vt:lpstr>Office Theme</vt:lpstr>
      <vt:lpstr>Strategic Growth: Converting Casual Cyclistic Riders to Annual Members</vt:lpstr>
      <vt:lpstr>Agenda</vt:lpstr>
      <vt:lpstr>How do annual members and casual riders use Cyclistic’s bikes differently?</vt:lpstr>
      <vt:lpstr>Data Integrity &amp; Credibility</vt:lpstr>
      <vt:lpstr>Dataset at a Glance Member vs. Casual</vt:lpstr>
      <vt:lpstr>How do annual members and casual riders use Cyclistic bikes differently?</vt:lpstr>
      <vt:lpstr>The "Tourist  vs. Commuter" Pattern</vt:lpstr>
      <vt:lpstr>Trip Duration &amp; Engagement</vt:lpstr>
      <vt:lpstr>Year-Round Reliability</vt:lpstr>
      <vt:lpstr>Geographic Footprint</vt:lpstr>
      <vt:lpstr>Proposed Strategy: The "Casual-to-Commuter"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Cecura</dc:creator>
  <cp:lastModifiedBy>Kristina Cecura</cp:lastModifiedBy>
  <cp:revision>18</cp:revision>
  <dcterms:created xsi:type="dcterms:W3CDTF">2025-12-22T18:28:59Z</dcterms:created>
  <dcterms:modified xsi:type="dcterms:W3CDTF">2026-01-14T16:46:24Z</dcterms:modified>
</cp:coreProperties>
</file>